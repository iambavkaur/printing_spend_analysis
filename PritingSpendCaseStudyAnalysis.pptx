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78" r:id="rId5"/>
    <p:sldId id="279" r:id="rId6"/>
    <p:sldId id="280" r:id="rId7"/>
    <p:sldId id="281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00">
          <p15:clr>
            <a:srgbClr val="A4A3A4"/>
          </p15:clr>
        </p15:guide>
        <p15:guide id="2" pos="2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D0EA"/>
    <a:srgbClr val="F26D4E"/>
    <a:srgbClr val="F39777"/>
    <a:srgbClr val="A9E060"/>
    <a:srgbClr val="D4EFAC"/>
    <a:srgbClr val="E8E9E9"/>
    <a:srgbClr val="DBDDDE"/>
    <a:srgbClr val="6D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4706" autoAdjust="0"/>
  </p:normalViewPr>
  <p:slideViewPr>
    <p:cSldViewPr snapToGrid="0" snapToObjects="1">
      <p:cViewPr>
        <p:scale>
          <a:sx n="108" d="100"/>
          <a:sy n="108" d="100"/>
        </p:scale>
        <p:origin x="52" y="52"/>
      </p:cViewPr>
      <p:guideLst>
        <p:guide orient="horz" pos="3200"/>
        <p:guide pos="28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CA243-DF1E-AF41-8044-E3998120EB5A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00F7CD-5D04-DA45-8C38-B54BA1759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288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049AE-5C89-C146-A884-7A17BB5AEED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0A0B7-983E-AE42-9549-9AFAB1BDE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129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/>
          <p:nvPr userDrawn="1"/>
        </p:nvSpPr>
        <p:spPr>
          <a:xfrm>
            <a:off x="0" y="0"/>
            <a:ext cx="9144000" cy="495722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438" y="230135"/>
            <a:ext cx="7826284" cy="846995"/>
          </a:xfrm>
        </p:spPr>
        <p:txBody>
          <a:bodyPr anchor="b"/>
          <a:lstStyle>
            <a:lvl1pPr>
              <a:spcBef>
                <a:spcPts val="0"/>
              </a:spcBef>
              <a:defRPr sz="2800"/>
            </a:lvl1pPr>
          </a:lstStyle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439" y="1127976"/>
            <a:ext cx="6467097" cy="502099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Click to edit Master subtitle style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0" hasCustomPrompt="1"/>
          </p:nvPr>
        </p:nvSpPr>
        <p:spPr>
          <a:xfrm>
            <a:off x="452438" y="1690092"/>
            <a:ext cx="5982711" cy="47693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rgbClr val="7F7F7F"/>
                </a:solidFill>
              </a:defRPr>
            </a:lvl1pPr>
          </a:lstStyle>
          <a:p>
            <a:pPr lvl="0"/>
            <a:r>
              <a:rPr lang="en-CA" dirty="0"/>
              <a:t>Date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99249" y="4727330"/>
            <a:ext cx="73326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0" i="0" kern="1200" dirty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2016 © Loblaw Companies Limited or its subsidiaries.  All rights reserved.  Unauthorized duplication or distribution in whole or in part is strictly </a:t>
            </a:r>
            <a:r>
              <a:rPr lang="en-US" sz="600" b="0" i="0" u="none" kern="1200" dirty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prohibited. All </a:t>
            </a:r>
            <a:r>
              <a:rPr lang="en-US" sz="600" b="0" i="0" kern="1200" dirty="0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</a:rPr>
              <a:t>trademarks are trademarks of their respective owners.</a:t>
            </a:r>
            <a:endParaRPr lang="en-US" sz="600" dirty="0">
              <a:solidFill>
                <a:schemeClr val="accent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8" y="3993024"/>
            <a:ext cx="1332839" cy="68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579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/>
          <p:nvPr userDrawn="1"/>
        </p:nvSpPr>
        <p:spPr>
          <a:xfrm>
            <a:off x="0" y="0"/>
            <a:ext cx="9144000" cy="44994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57200" y="832623"/>
            <a:ext cx="8229600" cy="0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879"/>
            <a:ext cx="8229600" cy="548327"/>
          </a:xfrm>
        </p:spPr>
        <p:txBody>
          <a:bodyPr anchor="b"/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8357"/>
            <a:ext cx="8229600" cy="3406266"/>
          </a:xfrm>
        </p:spPr>
        <p:txBody>
          <a:bodyPr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96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, Subhead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/>
          <p:nvPr userDrawn="1"/>
        </p:nvSpPr>
        <p:spPr>
          <a:xfrm>
            <a:off x="0" y="0"/>
            <a:ext cx="9144000" cy="44994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45840"/>
            <a:ext cx="3204633" cy="294878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 hasCustomPrompt="1"/>
          </p:nvPr>
        </p:nvSpPr>
        <p:spPr>
          <a:xfrm>
            <a:off x="4132264" y="1152923"/>
            <a:ext cx="4554537" cy="34417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CA" dirty="0"/>
              <a:t>Add content or graph.</a:t>
            </a:r>
          </a:p>
          <a:p>
            <a:pPr lvl="0"/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457201" y="1152922"/>
            <a:ext cx="3204633" cy="492918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169862" indent="0">
              <a:buNone/>
              <a:defRPr/>
            </a:lvl2pPr>
            <a:lvl3pPr marL="400050" indent="0">
              <a:buNone/>
              <a:defRPr/>
            </a:lvl3pPr>
            <a:lvl4pPr marL="571500" indent="0">
              <a:buNone/>
              <a:defRPr/>
            </a:lvl4pPr>
            <a:lvl5pPr marL="741362" indent="0">
              <a:buNone/>
              <a:defRPr/>
            </a:lvl5pPr>
          </a:lstStyle>
          <a:p>
            <a:pPr lvl="0"/>
            <a:r>
              <a:rPr lang="en-CA" dirty="0"/>
              <a:t>Headline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832623"/>
            <a:ext cx="8229600" cy="0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122879"/>
            <a:ext cx="8229600" cy="548327"/>
          </a:xfrm>
        </p:spPr>
        <p:txBody>
          <a:bodyPr anchor="b"/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217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itle, Subhead &amp;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/>
          <p:nvPr userDrawn="1"/>
        </p:nvSpPr>
        <p:spPr>
          <a:xfrm>
            <a:off x="0" y="0"/>
            <a:ext cx="9144000" cy="44994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2168" y="1645840"/>
            <a:ext cx="3204633" cy="294878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 hasCustomPrompt="1"/>
          </p:nvPr>
        </p:nvSpPr>
        <p:spPr>
          <a:xfrm>
            <a:off x="457201" y="1152923"/>
            <a:ext cx="4554537" cy="34417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CA" dirty="0"/>
              <a:t>Add photo by clicking photo icon in this content box.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5482168" y="1152922"/>
            <a:ext cx="3204633" cy="492918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169862" indent="0">
              <a:buNone/>
              <a:defRPr/>
            </a:lvl2pPr>
            <a:lvl3pPr marL="400050" indent="0">
              <a:buNone/>
              <a:defRPr/>
            </a:lvl3pPr>
            <a:lvl4pPr marL="571500" indent="0">
              <a:buNone/>
              <a:defRPr/>
            </a:lvl4pPr>
            <a:lvl5pPr marL="741362" indent="0">
              <a:buNone/>
              <a:defRPr/>
            </a:lvl5pPr>
          </a:lstStyle>
          <a:p>
            <a:pPr lvl="0"/>
            <a:r>
              <a:rPr lang="en-CA" dirty="0"/>
              <a:t>Headline</a:t>
            </a:r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832623"/>
            <a:ext cx="8229600" cy="0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122879"/>
            <a:ext cx="8229600" cy="548327"/>
          </a:xfrm>
        </p:spPr>
        <p:txBody>
          <a:bodyPr anchor="b"/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468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/>
          <p:nvPr userDrawn="1"/>
        </p:nvSpPr>
        <p:spPr>
          <a:xfrm>
            <a:off x="0" y="0"/>
            <a:ext cx="9144000" cy="44994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47588"/>
            <a:ext cx="4038600" cy="33470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47588"/>
            <a:ext cx="4038600" cy="33470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457200" y="832623"/>
            <a:ext cx="8229600" cy="0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122879"/>
            <a:ext cx="8229600" cy="548327"/>
          </a:xfrm>
        </p:spPr>
        <p:txBody>
          <a:bodyPr anchor="b"/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07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/>
          <p:nvPr userDrawn="1"/>
        </p:nvSpPr>
        <p:spPr>
          <a:xfrm>
            <a:off x="0" y="0"/>
            <a:ext cx="9144000" cy="44994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39838"/>
            <a:ext cx="4040188" cy="47982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19660"/>
            <a:ext cx="4040188" cy="287496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39838"/>
            <a:ext cx="4041775" cy="47982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719660"/>
            <a:ext cx="4041775" cy="287496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57200" y="832623"/>
            <a:ext cx="8229600" cy="0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122879"/>
            <a:ext cx="8229600" cy="548327"/>
          </a:xfrm>
        </p:spPr>
        <p:txBody>
          <a:bodyPr anchor="b"/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906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/>
          <p:cNvSpPr/>
          <p:nvPr userDrawn="1"/>
        </p:nvSpPr>
        <p:spPr>
          <a:xfrm>
            <a:off x="0" y="0"/>
            <a:ext cx="9144000" cy="44994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832623"/>
            <a:ext cx="8229600" cy="0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122879"/>
            <a:ext cx="8229600" cy="548327"/>
          </a:xfrm>
        </p:spPr>
        <p:txBody>
          <a:bodyPr anchor="b"/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0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/>
          <p:cNvSpPr/>
          <p:nvPr userDrawn="1"/>
        </p:nvSpPr>
        <p:spPr>
          <a:xfrm>
            <a:off x="0" y="0"/>
            <a:ext cx="9144000" cy="4499429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7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15266"/>
            <a:ext cx="8229600" cy="714530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4143"/>
            <a:ext cx="8229600" cy="356048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64546"/>
          <a:stretch/>
        </p:blipFill>
        <p:spPr>
          <a:xfrm>
            <a:off x="0" y="5078850"/>
            <a:ext cx="9144000" cy="91440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457200" y="825018"/>
            <a:ext cx="8229600" cy="0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 userDrawn="1"/>
        </p:nvSpPr>
        <p:spPr>
          <a:xfrm>
            <a:off x="7614397" y="5078850"/>
            <a:ext cx="1529603" cy="91440"/>
          </a:xfrm>
          <a:prstGeom prst="rect">
            <a:avLst/>
          </a:prstGeom>
          <a:solidFill>
            <a:srgbClr val="00A550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rtlCol="0" anchor="ctr" anchorCtr="0">
            <a:noAutofit/>
          </a:bodyPr>
          <a:lstStyle/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400" b="1" kern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8184993" y="4693444"/>
            <a:ext cx="5798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B4F6184-9F9C-45A0-BDFF-B28FD2B0FAEA}" type="slidenum">
              <a:rPr lang="en-CA" sz="900" smtClean="0">
                <a:solidFill>
                  <a:schemeClr val="accent1"/>
                </a:solidFill>
              </a:rPr>
              <a:t>‹#›</a:t>
            </a:fld>
            <a:endParaRPr lang="en-CA" sz="900" dirty="0">
              <a:solidFill>
                <a:schemeClr val="accent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11605"/>
            <a:ext cx="510870" cy="23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2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52" r:id="rId5"/>
    <p:sldLayoutId id="2147483653" r:id="rId6"/>
    <p:sldLayoutId id="2147483654" r:id="rId7"/>
    <p:sldLayoutId id="2147483655" r:id="rId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863" indent="-169863" algn="l" defTabSz="457200" rtl="0" eaLnBrk="1" latinLnBrk="0" hangingPunct="1">
        <a:spcBef>
          <a:spcPts val="1200"/>
        </a:spcBef>
        <a:spcAft>
          <a:spcPts val="0"/>
        </a:spcAft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230188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7145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1363" indent="-169863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11225" indent="-169863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UNDERSTANDING OF USE CASE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0D1B30-7ECF-43FE-A540-8106815007F9}"/>
              </a:ext>
            </a:extLst>
          </p:cNvPr>
          <p:cNvSpPr/>
          <p:nvPr/>
        </p:nvSpPr>
        <p:spPr>
          <a:xfrm>
            <a:off x="457200" y="922867"/>
            <a:ext cx="8229600" cy="40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rtlCol="0" anchor="t" anchorCtr="0">
            <a:noAutofit/>
          </a:bodyPr>
          <a:lstStyle/>
          <a:p>
            <a:pPr marL="285750" indent="-28575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endParaRPr lang="en-US" sz="1400" kern="12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D9FC97-0FB3-1720-6E53-D0F0B316F928}"/>
              </a:ext>
            </a:extLst>
          </p:cNvPr>
          <p:cNvSpPr txBox="1"/>
          <p:nvPr/>
        </p:nvSpPr>
        <p:spPr>
          <a:xfrm>
            <a:off x="377688" y="995753"/>
            <a:ext cx="7924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Fresh Grocery Company has 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excessive spend in printing, but lacks visibility into where, why, and how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costs are being incurred across the organization.</a:t>
            </a:r>
          </a:p>
          <a:p>
            <a:pPr algn="just"/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The objective is not only to 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identify cost issues, but to uncover actionable opportunities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The analysis must 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translate data into a clear spend narrative, understand drivers, root causes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, and discover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 cost saving opportunities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algn="just"/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The end goal is to create a 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mechanism to reduce printing costs over the next 12 months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while maintaining business continuity and operational needs.</a:t>
            </a:r>
          </a:p>
        </p:txBody>
      </p:sp>
    </p:spTree>
    <p:extLst>
      <p:ext uri="{BB962C8B-B14F-4D97-AF65-F5344CB8AC3E}">
        <p14:creationId xmlns:p14="http://schemas.microsoft.com/office/powerpoint/2010/main" val="3665753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C644C-9E58-916C-6273-ED23DDDD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B50F-9BE1-EDBF-3F71-5BB36F3C1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BACKGROUD &amp; DATA ASSUMPTIONS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80F17-5371-3489-11D8-DDD2A6158D9D}"/>
              </a:ext>
            </a:extLst>
          </p:cNvPr>
          <p:cNvSpPr txBox="1"/>
          <p:nvPr/>
        </p:nvSpPr>
        <p:spPr>
          <a:xfrm>
            <a:off x="377688" y="1090445"/>
            <a:ext cx="8309112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Fresh Grocery Company has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multiple store banners, distribution centers, and a head office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Discount stores are focused on cost efficiency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and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upscale stores more flexible on spend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Printing happens across many departments and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printing costs are charged on a Cost-Per-Page model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, with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color pages are about 4 times more expensive than black &amp; white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, and pricing includes devices and services.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C09E52D-545E-7E4E-6646-BD1CADEE95FE}"/>
              </a:ext>
            </a:extLst>
          </p:cNvPr>
          <p:cNvSpPr txBox="1">
            <a:spLocks/>
          </p:cNvSpPr>
          <p:nvPr/>
        </p:nvSpPr>
        <p:spPr>
          <a:xfrm>
            <a:off x="457201" y="841013"/>
            <a:ext cx="1205948" cy="303015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1400"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97569F-2FF2-578C-A6CF-E6EDC4755429}"/>
              </a:ext>
            </a:extLst>
          </p:cNvPr>
          <p:cNvSpPr txBox="1"/>
          <p:nvPr/>
        </p:nvSpPr>
        <p:spPr>
          <a:xfrm>
            <a:off x="377688" y="2812176"/>
            <a:ext cx="8309112" cy="144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Annual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page volume has been calculated from previous and current year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readings.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Records with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negative invoice amount have lower current year readings vs previous year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and it is assumed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those printers have been reset or reinstalled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Printer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 models with prefix “MPC”, “SPC” and “PROC” are multi function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printers and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rest are black &amp; white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Only HST has been considered in Total Invoice amount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, rest of the taxes (GST, PST and QST) are not.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A2828B-2E3D-613F-F25E-E98668EBD2DA}"/>
              </a:ext>
            </a:extLst>
          </p:cNvPr>
          <p:cNvSpPr txBox="1">
            <a:spLocks/>
          </p:cNvSpPr>
          <p:nvPr/>
        </p:nvSpPr>
        <p:spPr>
          <a:xfrm>
            <a:off x="457200" y="2575996"/>
            <a:ext cx="1848677" cy="303015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1400" dirty="0">
                <a:solidFill>
                  <a:schemeClr val="bg1">
                    <a:lumMod val="50000"/>
                  </a:schemeClr>
                </a:solidFill>
              </a:rPr>
              <a:t>Data Assumptions</a:t>
            </a:r>
          </a:p>
        </p:txBody>
      </p:sp>
    </p:spTree>
    <p:extLst>
      <p:ext uri="{BB962C8B-B14F-4D97-AF65-F5344CB8AC3E}">
        <p14:creationId xmlns:p14="http://schemas.microsoft.com/office/powerpoint/2010/main" val="3902318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A947E-41BF-84F5-ACF6-77033CC09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4FC16-0D98-8272-B579-54E1CEA9A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PRINT SPEND ANALYSIS &amp; SAVING OPPORTUNITIES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9F0175-FFFE-66B8-CEA2-E60E4613B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490" y="938044"/>
            <a:ext cx="1961317" cy="14539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AF811E-4201-299D-CFE3-D4AA4A818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808" y="938044"/>
            <a:ext cx="1590139" cy="14738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5821B9-EB01-2F7A-5F42-354B736FCF65}"/>
              </a:ext>
            </a:extLst>
          </p:cNvPr>
          <p:cNvSpPr txBox="1"/>
          <p:nvPr/>
        </p:nvSpPr>
        <p:spPr>
          <a:xfrm>
            <a:off x="359519" y="812365"/>
            <a:ext cx="335280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Colored prints contribute to 46%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of total spend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Discount stores are contributing to over 55%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of total spend on printing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Out of 71M B&amp;W pages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printed this year,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22M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are being printed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from Multi-Function printers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47%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of print spend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in discount stores is on colored prints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and out of which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79%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is coming from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Dept Manager office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45%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of print spend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in upscale stores is on colored prints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and out of which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52% is coming from Dept Manager office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77%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of print spend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in corporate office is on colored prints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and out of which </a:t>
            </a:r>
            <a:r>
              <a:rPr lang="en-US" sz="1200" b="1" dirty="0">
                <a:solidFill>
                  <a:schemeClr val="accent1">
                    <a:lumMod val="50000"/>
                  </a:schemeClr>
                </a:solidFill>
              </a:rPr>
              <a:t>66% is coming from Manual Print Shop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3CF2E1-188D-34DC-8252-9E30E4BF5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491" y="2773230"/>
            <a:ext cx="1742663" cy="21963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71FFCC-BF28-6E95-4B14-0789810509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154" y="2773230"/>
            <a:ext cx="1696272" cy="21963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5059A3-09C8-B74B-01A9-5F52D88B5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9426" y="2773225"/>
            <a:ext cx="1808917" cy="219633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121F336-942F-7292-2B7F-4087818E73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1948" y="1295070"/>
            <a:ext cx="1696393" cy="109694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FCAE04E-570B-0C1A-0C70-66231493A9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1948" y="944817"/>
            <a:ext cx="1696393" cy="35025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A639F5E-659C-BEFA-CB16-C7C5777884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0491" y="2411892"/>
            <a:ext cx="1742663" cy="33959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F721BA-8DC4-FB72-40CE-9603DAAA15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3026" y="2411893"/>
            <a:ext cx="1676399" cy="33959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CBA8DAB-57E5-4714-7E88-D1FC83F9C1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0875" y="2410022"/>
            <a:ext cx="1787467" cy="34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30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50032-0866-3C6F-5398-7C1F8B9AA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B2CC-1A3A-7CEC-AD88-511386E5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RECOMMENDED APPROACH TO REDUCE SPEND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59D69C-7EC8-FD16-2904-4262E86C243E}"/>
              </a:ext>
            </a:extLst>
          </p:cNvPr>
          <p:cNvSpPr/>
          <p:nvPr/>
        </p:nvSpPr>
        <p:spPr>
          <a:xfrm>
            <a:off x="457200" y="922867"/>
            <a:ext cx="8229600" cy="40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rtlCol="0" anchor="t" anchorCtr="0">
            <a:noAutofit/>
          </a:bodyPr>
          <a:lstStyle/>
          <a:p>
            <a:pPr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200" kern="12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BC6124-9192-927D-760F-EA949D2D6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863" y="950733"/>
            <a:ext cx="4429693" cy="30520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693AED-BE85-8DAE-BD52-245642C21467}"/>
              </a:ext>
            </a:extLst>
          </p:cNvPr>
          <p:cNvSpPr txBox="1"/>
          <p:nvPr/>
        </p:nvSpPr>
        <p:spPr>
          <a:xfrm>
            <a:off x="312491" y="874419"/>
            <a:ext cx="41710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b="1" dirty="0"/>
              <a:t>Focus on high-cost colored printing</a:t>
            </a:r>
          </a:p>
          <a:p>
            <a:pPr marL="169863"/>
            <a:r>
              <a:rPr lang="en-US" sz="1000" dirty="0"/>
              <a:t>Prioritize reducing color printing, which drives nearly half of total spend, with targeted controls in Discount Stores, Upscale Stores, and Corporate Office.</a:t>
            </a:r>
          </a:p>
          <a:p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b="1" dirty="0"/>
              <a:t>Target high-impact departments</a:t>
            </a:r>
          </a:p>
          <a:p>
            <a:pPr marL="169863"/>
            <a:r>
              <a:rPr lang="en-US" sz="1000" dirty="0"/>
              <a:t>Address disproportionate color usage from administrative offices like Dept Manager, Manual Print Shop, Owner Manager etc.</a:t>
            </a:r>
          </a:p>
          <a:p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b="1" dirty="0"/>
              <a:t>Optimize device and print channel mix</a:t>
            </a:r>
          </a:p>
          <a:p>
            <a:pPr marL="169863"/>
            <a:r>
              <a:rPr lang="en-US" sz="1000" dirty="0"/>
              <a:t>Review usage of Multi-Function Printers for B&amp;W printing to ensure the right devices are used for high-volume, low-cost print jobs.</a:t>
            </a:r>
          </a:p>
          <a:p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b="1" dirty="0"/>
              <a:t>Implement data-driven governance using dashboards</a:t>
            </a:r>
          </a:p>
          <a:p>
            <a:pPr marL="169863"/>
            <a:r>
              <a:rPr lang="en-US" sz="1000" dirty="0"/>
              <a:t>Deploy dashboards like this to track key KPIs and enable ongoing visibility, accountability, and course correction.</a:t>
            </a:r>
          </a:p>
          <a:p>
            <a:endParaRPr lang="en-US" sz="10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b="1" dirty="0"/>
              <a:t>Renegotiate the Cost-Per-Page (CPP) contract</a:t>
            </a:r>
          </a:p>
          <a:p>
            <a:pPr marL="169863"/>
            <a:r>
              <a:rPr lang="en-US" sz="1000" dirty="0"/>
              <a:t>Use insights from color vs B&amp;W volumes, banner-level usage, and device mix to negotiate lower color CPP rates</a:t>
            </a:r>
          </a:p>
        </p:txBody>
      </p:sp>
    </p:spTree>
    <p:extLst>
      <p:ext uri="{BB962C8B-B14F-4D97-AF65-F5344CB8AC3E}">
        <p14:creationId xmlns:p14="http://schemas.microsoft.com/office/powerpoint/2010/main" val="2635999974"/>
      </p:ext>
    </p:extLst>
  </p:cSld>
  <p:clrMapOvr>
    <a:masterClrMapping/>
  </p:clrMapOvr>
</p:sld>
</file>

<file path=ppt/theme/theme1.xml><?xml version="1.0" encoding="utf-8"?>
<a:theme xmlns:a="http://schemas.openxmlformats.org/drawingml/2006/main" name="LCL">
  <a:themeElements>
    <a:clrScheme name="Custom 2">
      <a:dk1>
        <a:sysClr val="windowText" lastClr="000000"/>
      </a:dk1>
      <a:lt1>
        <a:sysClr val="window" lastClr="FFFFFF"/>
      </a:lt1>
      <a:dk2>
        <a:srgbClr val="DD0020"/>
      </a:dk2>
      <a:lt2>
        <a:srgbClr val="102A91"/>
      </a:lt2>
      <a:accent1>
        <a:srgbClr val="5A5A5A"/>
      </a:accent1>
      <a:accent2>
        <a:srgbClr val="59A5DA"/>
      </a:accent2>
      <a:accent3>
        <a:srgbClr val="F52C1C"/>
      </a:accent3>
      <a:accent4>
        <a:srgbClr val="FBCF2D"/>
      </a:accent4>
      <a:accent5>
        <a:srgbClr val="102A91"/>
      </a:accent5>
      <a:accent6>
        <a:srgbClr val="00A550"/>
      </a:accent6>
      <a:hlink>
        <a:srgbClr val="102A91"/>
      </a:hlink>
      <a:folHlink>
        <a:srgbClr val="59A5DA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spcFirstLastPara="0" vert="horz" wrap="square" lIns="53340" tIns="53340" rIns="53340" bIns="53340" numCol="1" spcCol="1270" anchor="ctr" anchorCtr="0">
        <a:noAutofit/>
      </a:bodyPr>
      <a:lstStyle>
        <a:defPPr algn="ctr" defTabSz="622300">
          <a:lnSpc>
            <a:spcPct val="90000"/>
          </a:lnSpc>
          <a:spcBef>
            <a:spcPct val="0"/>
          </a:spcBef>
          <a:spcAft>
            <a:spcPct val="35000"/>
          </a:spcAft>
          <a:defRPr sz="1400" b="1" kern="1200" dirty="0" smtClean="0">
            <a:solidFill>
              <a:schemeClr val="bg1"/>
            </a:solidFill>
          </a:defRPr>
        </a:defPPr>
      </a:lstStyle>
      <a:style>
        <a:lnRef idx="2">
          <a:schemeClr val="accent1">
            <a:hueOff val="0"/>
            <a:satOff val="0"/>
            <a:lumOff val="0"/>
            <a:alphaOff val="0"/>
          </a:schemeClr>
        </a:lnRef>
        <a:fillRef idx="1">
          <a:schemeClr val="lt1">
            <a:alpha val="90000"/>
            <a:hueOff val="0"/>
            <a:satOff val="0"/>
            <a:lumOff val="0"/>
            <a:alphaOff val="0"/>
          </a:schemeClr>
        </a:fillRef>
        <a:effectRef idx="0">
          <a:schemeClr val="lt1">
            <a:alpha val="90000"/>
            <a:hueOff val="0"/>
            <a:satOff val="0"/>
            <a:lumOff val="0"/>
            <a:alphaOff val="0"/>
          </a:schemeClr>
        </a:effectRef>
        <a:fontRef idx="minor">
          <a:schemeClr val="dk1">
            <a:hueOff val="0"/>
            <a:satOff val="0"/>
            <a:lumOff val="0"/>
            <a:alphaOff val="0"/>
          </a:schemeClr>
        </a:fontRef>
      </a:style>
    </a:spDef>
    <a:lnDef>
      <a:spPr>
        <a:ln w="12700" cmpd="sng">
          <a:solidFill>
            <a:schemeClr val="tx1">
              <a:lumMod val="50000"/>
              <a:lumOff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2BA3B9469D4545A2460703969E25F9" ma:contentTypeVersion="0" ma:contentTypeDescription="Create a new document." ma:contentTypeScope="" ma:versionID="b2200d9628ad84a9f8bda5893f08e4f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27296b650b3e86c366768b0ef4ffd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D77C0FB7-C66C-467D-96AA-773FE24E15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279F58-F11E-40FE-99AA-2C97D8F65E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6E81CCC-8101-443F-BA76-42557482D04C}">
  <ds:schemaRefs>
    <ds:schemaRef ds:uri="http://schemas.openxmlformats.org/package/2006/metadata/core-properties"/>
    <ds:schemaRef ds:uri="f888f122-eacc-4d17-9c14-f8b99cf9bafa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c134892d-ab9c-47c8-b084-1da0f637e99a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30443</TotalTime>
  <Words>518</Words>
  <Application>Microsoft Office PowerPoint</Application>
  <PresentationFormat>On-screen Show (16:9)</PresentationFormat>
  <Paragraphs>45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LCL</vt:lpstr>
      <vt:lpstr>UNDERSTANDING OF USE CASE</vt:lpstr>
      <vt:lpstr>BACKGROUD &amp; DATA ASSUMPTIONS</vt:lpstr>
      <vt:lpstr>PRINT SPEND ANALYSIS &amp; SAVING OPPORTUNITIES</vt:lpstr>
      <vt:lpstr>RECOMMENDED APPROACH TO REDUCE SPEND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LCL PowerPoint template, 16x9</dc:title>
  <dc:creator>Juliana Rucchetto</dc:creator>
  <cp:lastModifiedBy>Virk, Karanbir Singh</cp:lastModifiedBy>
  <cp:revision>215</cp:revision>
  <dcterms:created xsi:type="dcterms:W3CDTF">2016-07-21T22:53:43Z</dcterms:created>
  <dcterms:modified xsi:type="dcterms:W3CDTF">2025-12-22T17:04:36Z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0x010100252BA3B9469D4545A2460703969E25F9</vt:lpwstr>
  </property>
  <property fmtid="{D5CDD505-2E9C-101B-9397-08002B2CF9AE}" pid="3" name="WorkResourceCategory">
    <vt:lpwstr>723;#Template|e4696378-9150-4923-9b84-77d5dfe99962</vt:lpwstr>
  </property>
  <property fmtid="{D5CDD505-2E9C-101B-9397-08002B2CF9AE}" pid="4" name="MerchandisingCategory">
    <vt:lpwstr/>
  </property>
  <property fmtid="{D5CDD505-2E9C-101B-9397-08002B2CF9AE}" pid="5" name="WorkResourceTags">
    <vt:lpwstr>819;#PPT|27087870-3db2-4b6d-8d50-af5b9b2cbf61</vt:lpwstr>
  </property>
  <property fmtid="{D5CDD505-2E9C-101B-9397-08002B2CF9AE}" pid="6" name="Region">
    <vt:lpwstr/>
  </property>
  <property fmtid="{D5CDD505-2E9C-101B-9397-08002B2CF9AE}" pid="7" name="Persona">
    <vt:lpwstr>667;#Store Support|2239d0bc-d457-427d-be0a-e1081b29fc8f;#661;#Merchandising|7cb5f139-f64a-4076-90cc-272f9014ffb7;#665;#Store Operations|708e2da1-8d2d-4ba5-a77f-179eaa75f63a</vt:lpwstr>
  </property>
  <property fmtid="{D5CDD505-2E9C-101B-9397-08002B2CF9AE}" pid="8" name="WorkResourceSubject">
    <vt:lpwstr>804;#Brand|77f15736-d5ee-4a99-b123-61fbf9c71582</vt:lpwstr>
  </property>
  <property fmtid="{D5CDD505-2E9C-101B-9397-08002B2CF9AE}" pid="9" name="CompanyName">
    <vt:lpwstr/>
  </property>
  <property fmtid="{D5CDD505-2E9C-101B-9397-08002B2CF9AE}" pid="10" name="Division">
    <vt:lpwstr>668;#Discount|14cf57d0-6e9f-4c91-916c-81982e700f36;#671;#Market|237baa8d-d080-46a4-8bef-81e0f4509569;#669;#Emerging|3418e5c0-70ac-44ad-87f0-7a27cd34093f;#670;#Joe Fresh|f33658c2-406b-46ed-8e89-0fb12e083415;#672;#PC Financial|658e886e-3bfd-4e1d-a9ab-2ef974cda6c8;#673;#Shared Services|fd2f1c6c-9f87-4a45-97d4-c309f48cd0ff;#675;#Shoppers|3046b51e-2edc-4050-873b-1ef0c1f62f7c</vt:lpwstr>
  </property>
  <property fmtid="{D5CDD505-2E9C-101B-9397-08002B2CF9AE}" pid="11" name="MerchandisingCategoryTaxHTField">
    <vt:lpwstr/>
  </property>
  <property fmtid="{D5CDD505-2E9C-101B-9397-08002B2CF9AE}" pid="12" name="PersonaTaxHTField">
    <vt:lpwstr>Store Support|2239d0bc-d457-427d-be0a-e1081b29fc8f;Merchandising|7cb5f139-f64a-4076-90cc-272f9014ffb7;Store Operations|708e2da1-8d2d-4ba5-a77f-179eaa75f63a</vt:lpwstr>
  </property>
  <property fmtid="{D5CDD505-2E9C-101B-9397-08002B2CF9AE}" pid="13" name="PeopleManager">
    <vt:bool>false</vt:bool>
  </property>
  <property fmtid="{D5CDD505-2E9C-101B-9397-08002B2CF9AE}" pid="14" name="DivisionTaxHTField">
    <vt:lpwstr>Discount|14cf57d0-6e9f-4c91-916c-81982e700f36;Market|237baa8d-d080-46a4-8bef-81e0f4509569;Emerging|3418e5c0-70ac-44ad-87f0-7a27cd34093f;Joe Fresh|f33658c2-406b-46ed-8e89-0fb12e083415;PC Financial|658e886e-3bfd-4e1d-a9ab-2ef974cda6c8;Shared Services|fd2f1c6c-9f87-4a45-97d4-c309f48cd0ff;Shoppers|3046b51e-2edc-4050-873b-1ef0c1f62f7c</vt:lpwstr>
  </property>
  <property fmtid="{D5CDD505-2E9C-101B-9397-08002B2CF9AE}" pid="15" name="odf5b1e1f6494e98879a53d13caa1d9f">
    <vt:lpwstr>Discount|14cf57d0-6e9f-4c91-916c-81982e700f36;Market|237baa8d-d080-46a4-8bef-81e0f4509569;Emerging|3418e5c0-70ac-44ad-87f0-7a27cd34093f;Joe Fresh|f33658c2-406b-46ed-8e89-0fb12e083415;PC Financial|658e886e-3bfd-4e1d-a9ab-2ef974cda6c8;Shared Services|fd2f1c6c-9f87-4a45-97d4-c309f48cd0ff;Shoppers|3046b51e-2edc-4050-873b-1ef0c1f62f7c</vt:lpwstr>
  </property>
  <property fmtid="{D5CDD505-2E9C-101B-9397-08002B2CF9AE}" pid="16" name="RegionTaxHTField">
    <vt:lpwstr/>
  </property>
  <property fmtid="{D5CDD505-2E9C-101B-9397-08002B2CF9AE}" pid="17" name="CompanyNameTaxHTField">
    <vt:lpwstr/>
  </property>
  <property fmtid="{D5CDD505-2E9C-101B-9397-08002B2CF9AE}" pid="18" name="i19ab1e994104e2fae86a9f7ad636250">
    <vt:lpwstr>Store Support|2239d0bc-d457-427d-be0a-e1081b29fc8f;Merchandising|7cb5f139-f64a-4076-90cc-272f9014ffb7;Store Operations|708e2da1-8d2d-4ba5-a77f-179eaa75f63a</vt:lpwstr>
  </property>
  <property fmtid="{D5CDD505-2E9C-101B-9397-08002B2CF9AE}" pid="19" name="MediaServiceImageTags">
    <vt:lpwstr/>
  </property>
  <property fmtid="{D5CDD505-2E9C-101B-9397-08002B2CF9AE}" pid="20" name="xd_ProgID">
    <vt:lpwstr/>
  </property>
  <property fmtid="{D5CDD505-2E9C-101B-9397-08002B2CF9AE}" pid="21" name="_SourceUrl">
    <vt:lpwstr/>
  </property>
  <property fmtid="{D5CDD505-2E9C-101B-9397-08002B2CF9AE}" pid="22" name="_SharedFileIndex">
    <vt:lpwstr/>
  </property>
  <property fmtid="{D5CDD505-2E9C-101B-9397-08002B2CF9AE}" pid="23" name="ComplianceAssetId">
    <vt:lpwstr/>
  </property>
  <property fmtid="{D5CDD505-2E9C-101B-9397-08002B2CF9AE}" pid="24" name="TemplateUrl">
    <vt:lpwstr/>
  </property>
  <property fmtid="{D5CDD505-2E9C-101B-9397-08002B2CF9AE}" pid="25" name="_ExtendedDescription">
    <vt:lpwstr/>
  </property>
  <property fmtid="{D5CDD505-2E9C-101B-9397-08002B2CF9AE}" pid="26" name="TriggerFlowInfo">
    <vt:lpwstr/>
  </property>
  <property fmtid="{D5CDD505-2E9C-101B-9397-08002B2CF9AE}" pid="27" name="xd_Signature">
    <vt:bool>false</vt:bool>
  </property>
</Properties>
</file>