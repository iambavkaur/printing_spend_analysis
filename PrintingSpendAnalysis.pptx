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67"/>
  </p:normalViewPr>
  <p:slideViewPr>
    <p:cSldViewPr snapToGrid="0">
      <p:cViewPr varScale="1">
        <p:scale>
          <a:sx n="147" d="100"/>
          <a:sy n="147" d="100"/>
        </p:scale>
        <p:origin x="2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E090-7F03-821C-E0CF-BE6D1B275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1E42E-7B87-6333-E071-6AD956BDE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09EC3-E75F-B73C-2C7E-1BEBE38E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8949-0734-6249-4668-ACBC3AE3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8C66-D62C-1621-0681-77D10C76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7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8444-AA4C-FF44-20CA-4403B573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A8AC4-B42B-E64C-6675-BDE521306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D526A-E3A7-B950-B367-CBCC7EA3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3832A-9F10-D146-66BE-A822638E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B6A1-8C4A-F86F-8A55-E2AEA2D9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7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FB35-A68F-34C7-EA3B-1A6C0FE5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D0F13-43FE-85FE-48C3-00CE44F9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42C03-47C7-1ECA-C19A-C41278E8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0CCEC-96E6-9041-6D26-61500D37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9F0CF-F899-0E12-918E-0046ACA9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6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252F-DF79-750F-62DF-D9982EDB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09B50-85C3-701C-CB42-9ECD3A066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B530B-09C6-FA9A-964B-A7D60E6E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4C2A4-8652-DAAA-B14D-163EB833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D73CC-5159-8BCD-C0E6-F771D55B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FA2D5-4042-B7CB-3CAB-19472F6F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99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8C09-8571-0AB2-4198-4D1B0D1F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BFE78-C845-95AA-06C5-79356D6E5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2F926-FDF2-0FF7-17BD-C799940D1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0C2B7-FEC8-FFF9-4AB8-7076FA24D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0EC499-435E-DC24-D467-C937DB801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77BC5-C519-05BA-0AAE-1E9C65FA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E1836-BD73-52C7-1D99-7268F2F4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3E9F1-3746-9103-BB32-51512006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4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1D87-87ED-AEA9-A72D-292E8476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ACB31-4C08-F344-83BB-82CDDFF3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95DBA-AAF5-F6AF-726D-8828B3B40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5C395-8179-DC4C-711F-08B803A8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2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02C01-8E96-E5C2-860E-B03579DBF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C2945-EA3A-B43E-5C2D-23AC2F4A6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EF965-0AB5-DF8C-3CC5-BB5F1377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9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2D55-C295-E5CC-5595-B51E38EC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B42B4-A06B-4564-6C4F-8E9F43520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BD58C-85EC-B677-9419-FAE306587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F09A4-E96D-60DE-4090-58871F34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2126C-04E8-CD3F-FB0A-65F7047C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20C92-C9DC-697E-E365-52162546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0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F037-B34A-F74C-739C-68E79E87F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A3520-3415-89E0-574A-E4F974E5D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AA9BC-5E06-671D-7CEC-15674CABC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92EAA-4108-C75F-318A-83BD349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BC12E-C6E9-9F41-E416-A204708B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21A92-8F36-C14B-9FF9-EE7061E1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9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EF18-41BC-B0F2-95F0-4C80DF0A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89177-1E51-C5BC-6B15-13927E352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4EFC6-F6A6-7496-EA53-42FA50C4A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A2A9-BAB3-8CE4-2AEE-500422D7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1E753-2BD6-DA6A-3CE3-6E06DCB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E2AF4-1693-DDE5-46A7-F804DF775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42B65-1DDE-BD04-1F36-9A8A35CC3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84175-2D07-781F-053D-23EB679D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5F6FB-EE76-69E3-A4A5-365C6570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0FEB4-671C-7AAA-3717-CF1C72BF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5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4AD91-4B3A-647C-0780-B21E7D9C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ABC10-9AAF-9D46-BF9D-2B51716AF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EC390-9154-68A2-8FA8-4E2D500CF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50DDD-C350-F340-937C-E831954842DE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838E5-D714-7A1C-3BE9-9E5337AE9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FC895-FB5A-F841-BF56-AE8A207EC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EF178-C59E-534B-86B2-9975ECFDB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38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B696-1315-A4ED-54B9-88401E4186D7}"/>
              </a:ext>
            </a:extLst>
          </p:cNvPr>
          <p:cNvSpPr>
            <a:spLocks noGrp="1"/>
          </p:cNvSpPr>
          <p:nvPr/>
        </p:nvSpPr>
        <p:spPr>
          <a:xfrm>
            <a:off x="531790" y="223258"/>
            <a:ext cx="8229600" cy="548327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/>
              <a:t>UNDERSTANDING OF USE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0D1B30-7ECF-43FE-A540-8106815007F9}"/>
              </a:ext>
            </a:extLst>
          </p:cNvPr>
          <p:cNvSpPr/>
          <p:nvPr/>
        </p:nvSpPr>
        <p:spPr>
          <a:xfrm>
            <a:off x="531790" y="1023246"/>
            <a:ext cx="82296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en-US" sz="1400" kern="1200" dirty="0">
              <a:solidFill>
                <a:schemeClr val="tx1"/>
              </a:solidFill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FD9FC97-0FB3-1720-6E53-D0F0B316F928}"/>
              </a:ext>
            </a:extLst>
          </p:cNvPr>
          <p:cNvSpPr txBox="1"/>
          <p:nvPr/>
        </p:nvSpPr>
        <p:spPr>
          <a:xfrm>
            <a:off x="452277" y="1096132"/>
            <a:ext cx="110778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Fresh Grocery Company has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excessive spend in printing, but lacks visibility into where, why, and how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costs are being incurred across the organization.</a:t>
            </a:r>
          </a:p>
          <a:p>
            <a:pPr algn="just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objective is not only to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identify cost issues, but to uncover actionable opportunities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analysis must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translate data into a clear spend narrative, understand drivers, root causes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and discover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cost saving opportunities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The end goal is to create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mechanism to reduce printing costs over the next 12 months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while maintaining business continuity and operational needs.</a:t>
            </a:r>
          </a:p>
        </p:txBody>
      </p:sp>
    </p:spTree>
    <p:extLst>
      <p:ext uri="{BB962C8B-B14F-4D97-AF65-F5344CB8AC3E}">
        <p14:creationId xmlns:p14="http://schemas.microsoft.com/office/powerpoint/2010/main" val="217188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06AD-C15C-E2B6-8CBE-923AD2EE4732}"/>
              </a:ext>
            </a:extLst>
          </p:cNvPr>
          <p:cNvSpPr txBox="1">
            <a:spLocks/>
          </p:cNvSpPr>
          <p:nvPr/>
        </p:nvSpPr>
        <p:spPr>
          <a:xfrm>
            <a:off x="342851" y="227906"/>
            <a:ext cx="5657353" cy="5483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BACKGROUD &amp; DATA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2F399-EB5A-E071-B985-BC4ECF98720F}"/>
              </a:ext>
            </a:extLst>
          </p:cNvPr>
          <p:cNvSpPr txBox="1"/>
          <p:nvPr/>
        </p:nvSpPr>
        <p:spPr>
          <a:xfrm>
            <a:off x="377687" y="1090445"/>
            <a:ext cx="1119055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Fresh Grocery Company has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store banners, distribution centers, and a head office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Discount stores are focused on cost efficiency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upscale stores more flexible on spend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Printing happens across many departments and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printing costs are charged on a Cost-Per-Page model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with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color pages are about 4 times more expensive than black &amp; white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pricing includes devices and services.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677288-19CF-09F1-6E89-4EBF04373D5A}"/>
              </a:ext>
            </a:extLst>
          </p:cNvPr>
          <p:cNvSpPr txBox="1">
            <a:spLocks/>
          </p:cNvSpPr>
          <p:nvPr/>
        </p:nvSpPr>
        <p:spPr>
          <a:xfrm>
            <a:off x="457199" y="881260"/>
            <a:ext cx="1624148" cy="30301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45D61-E349-FC37-C23F-42E2EBCCA290}"/>
              </a:ext>
            </a:extLst>
          </p:cNvPr>
          <p:cNvSpPr txBox="1"/>
          <p:nvPr/>
        </p:nvSpPr>
        <p:spPr>
          <a:xfrm>
            <a:off x="377687" y="3325981"/>
            <a:ext cx="11190555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Annual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 volume has been calculated from previous and current year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readings.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Records with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negative invoice amount have lower current year readings vs previous year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it is assumed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those printers have been reset or reinstalled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Printer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models with prefix “MPC”, “SPC” and “PROC” are multi function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printers and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 are black &amp; white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HST has been considered in Total Invoice amount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rest of the taxes (GST, PST and QST) are not.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6CBB16-D51C-D6F9-2C06-67F04C437778}"/>
              </a:ext>
            </a:extLst>
          </p:cNvPr>
          <p:cNvSpPr txBox="1">
            <a:spLocks/>
          </p:cNvSpPr>
          <p:nvPr/>
        </p:nvSpPr>
        <p:spPr>
          <a:xfrm>
            <a:off x="457200" y="3115927"/>
            <a:ext cx="2489763" cy="30301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Assumptions</a:t>
            </a:r>
          </a:p>
        </p:txBody>
      </p:sp>
    </p:spTree>
    <p:extLst>
      <p:ext uri="{BB962C8B-B14F-4D97-AF65-F5344CB8AC3E}">
        <p14:creationId xmlns:p14="http://schemas.microsoft.com/office/powerpoint/2010/main" val="419363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FC16-0D98-8272-B579-54E1CEA9AA47}"/>
              </a:ext>
            </a:extLst>
          </p:cNvPr>
          <p:cNvSpPr>
            <a:spLocks noGrp="1"/>
          </p:cNvSpPr>
          <p:nvPr/>
        </p:nvSpPr>
        <p:spPr>
          <a:xfrm>
            <a:off x="479416" y="182324"/>
            <a:ext cx="8229600" cy="548327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/>
              <a:t>PRINT SPEND ANALYSIS &amp; SAVING OPPORTUNITIES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9F0175-FFFE-66B8-CEA2-E60E4613B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81038"/>
            <a:ext cx="1961317" cy="14539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AF811E-4201-299D-CFE3-D4AA4A818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318" y="981038"/>
            <a:ext cx="1590139" cy="1473849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2A5821B9-EB01-2F7A-5F42-354B736FCF65}"/>
              </a:ext>
            </a:extLst>
          </p:cNvPr>
          <p:cNvSpPr txBox="1"/>
          <p:nvPr/>
        </p:nvSpPr>
        <p:spPr>
          <a:xfrm>
            <a:off x="479416" y="981038"/>
            <a:ext cx="53979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Colored prints contribute to 46%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of total spend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Discount stores are contributing to over 55%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of total spend on printing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Out of 71M B&amp;W pages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printed this year,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22M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are being printed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from Multi-Function printers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47%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of print spend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 discount stores is on colored prints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and out of which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79%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is coming from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Dept Manager office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45%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of print spend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 upscale stores is on colored prints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and out of which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52% is coming from Dept Manager office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77%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of print spend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 corporate office is on colored prints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and out of which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66% is coming from Manual Print Shop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CF2E1-188D-34DC-8252-9E30E4BF5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2816224"/>
            <a:ext cx="1742663" cy="2196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71FFCC-BF28-6E95-4B14-078981050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8664" y="2816224"/>
            <a:ext cx="1696272" cy="2196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5059A3-09C8-B74B-01A9-5F52D88B5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4936" y="2816219"/>
            <a:ext cx="1808917" cy="2196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21F336-942F-7292-2B7F-4087818E73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7458" y="1338064"/>
            <a:ext cx="1696393" cy="1096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CAE04E-570B-0C1A-0C70-66231493A9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7458" y="987811"/>
            <a:ext cx="1696393" cy="3502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639F5E-659C-BEFA-CB16-C7C5777884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1" y="2454886"/>
            <a:ext cx="1742663" cy="339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F721BA-8DC4-FB72-40CE-9603DAAA15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536" y="2454887"/>
            <a:ext cx="1676399" cy="3395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BA8DAB-57E5-4714-7E88-D1FC83F9C1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6385" y="2453016"/>
            <a:ext cx="1787467" cy="34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B2CC-1A3A-7CEC-AD88-511386E5B2CE}"/>
              </a:ext>
            </a:extLst>
          </p:cNvPr>
          <p:cNvSpPr>
            <a:spLocks noGrp="1"/>
          </p:cNvSpPr>
          <p:nvPr/>
        </p:nvSpPr>
        <p:spPr>
          <a:xfrm>
            <a:off x="569224" y="170604"/>
            <a:ext cx="8229600" cy="548327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/>
              <a:t>RECOMMENDED APPROACH TO REDUCE SPEND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59D69C-7EC8-FD16-2904-4262E86C243E}"/>
              </a:ext>
            </a:extLst>
          </p:cNvPr>
          <p:cNvSpPr/>
          <p:nvPr/>
        </p:nvSpPr>
        <p:spPr>
          <a:xfrm>
            <a:off x="1945176" y="2459759"/>
            <a:ext cx="82296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C6124-9192-927D-760F-EA949D2D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36939"/>
            <a:ext cx="5489563" cy="3887909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20693AED-BE85-8DAE-BD52-245642C21467}"/>
              </a:ext>
            </a:extLst>
          </p:cNvPr>
          <p:cNvSpPr txBox="1"/>
          <p:nvPr/>
        </p:nvSpPr>
        <p:spPr>
          <a:xfrm>
            <a:off x="534388" y="974397"/>
            <a:ext cx="52916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Focus on high-cost colored printing</a:t>
            </a:r>
          </a:p>
          <a:p>
            <a:pPr marL="169863" algn="just"/>
            <a:r>
              <a:rPr lang="en-US" sz="1600" dirty="0">
                <a:solidFill>
                  <a:srgbClr val="002060"/>
                </a:solidFill>
              </a:rPr>
              <a:t>Prioritize reducing color printing, which drives nearly half of total spend, with targeted controls in Discount Stores, Upscale Stores, and Corporate Office.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Target high-impact departments</a:t>
            </a:r>
          </a:p>
          <a:p>
            <a:pPr marL="169863" algn="just"/>
            <a:r>
              <a:rPr lang="en-US" sz="1600" dirty="0">
                <a:solidFill>
                  <a:srgbClr val="002060"/>
                </a:solidFill>
              </a:rPr>
              <a:t>Address disproportionate color usage from administrative offices like Dept Manager, Manual Print Shop, Owner Manager etc.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Optimize device and print channel mix</a:t>
            </a:r>
          </a:p>
          <a:p>
            <a:pPr marL="169863" algn="just"/>
            <a:r>
              <a:rPr lang="en-US" sz="1600" dirty="0">
                <a:solidFill>
                  <a:srgbClr val="002060"/>
                </a:solidFill>
              </a:rPr>
              <a:t>Review usage of Multi-Function Printers for B&amp;W printing to ensure the right devices are used for high-volume, low-cost print jobs.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Implement data-driven governance using dashboards</a:t>
            </a:r>
          </a:p>
          <a:p>
            <a:pPr marL="169863" algn="just"/>
            <a:r>
              <a:rPr lang="en-US" sz="1600" dirty="0">
                <a:solidFill>
                  <a:srgbClr val="002060"/>
                </a:solidFill>
              </a:rPr>
              <a:t>Deploy dashboards like this to track key KPIs and enable ongoing visibility, accountability, and course correction.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02060"/>
                </a:solidFill>
              </a:rPr>
              <a:t>Renegotiate the Cost-Per-Page (CPP) contract</a:t>
            </a:r>
          </a:p>
          <a:p>
            <a:pPr marL="169863" algn="just"/>
            <a:r>
              <a:rPr lang="en-US" sz="1600" dirty="0">
                <a:solidFill>
                  <a:srgbClr val="002060"/>
                </a:solidFill>
              </a:rPr>
              <a:t>Use insights from color vs B&amp;W volumes, banner-level usage, and device mix to negotiate lower color CPP rates</a:t>
            </a:r>
          </a:p>
        </p:txBody>
      </p:sp>
    </p:spTree>
    <p:extLst>
      <p:ext uri="{BB962C8B-B14F-4D97-AF65-F5344CB8AC3E}">
        <p14:creationId xmlns:p14="http://schemas.microsoft.com/office/powerpoint/2010/main" val="465138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518</Words>
  <Application>Microsoft Macintosh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Karanbir Singh</dc:creator>
  <cp:lastModifiedBy>Karanbir Singh</cp:lastModifiedBy>
  <cp:revision>1</cp:revision>
  <dcterms:created xsi:type="dcterms:W3CDTF">2026-01-18T21:02:28Z</dcterms:created>
  <dcterms:modified xsi:type="dcterms:W3CDTF">2026-01-18T21:34:05Z</dcterms:modified>
</cp:coreProperties>
</file>